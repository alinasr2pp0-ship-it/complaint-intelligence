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554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065A82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97680"/>
            <a:ext cx="4206240" cy="42062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robo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15" y="987095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783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 GRADUATION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 Intelligence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RAG Chatbot for Consumer Financial Complaint Analysis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160520"/>
            <a:ext cx="49377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489204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09344" y="505663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1609344" y="50566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" y="5641848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Hany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044952" y="489204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31336" y="505663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3831336" y="50566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090672" y="5641848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Mostafa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266944" y="489204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53328" y="505663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6053328" y="50566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12664" y="5641848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Ahmed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488936" y="489204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275320" y="505663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2"/>
          <p:cNvSpPr/>
          <p:nvPr/>
        </p:nvSpPr>
        <p:spPr>
          <a:xfrm>
            <a:off x="8275320" y="50566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534656" y="5641848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Moaz Reda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710928" y="489204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497312" y="505663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6"/>
          <p:cNvSpPr/>
          <p:nvPr/>
        </p:nvSpPr>
        <p:spPr>
          <a:xfrm>
            <a:off x="10497312" y="50566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9756648" y="5641848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Mohamed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walk through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6479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targ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51" y="1917863"/>
            <a:ext cx="260787" cy="2607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916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Problem Statement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0574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complaint analysis doesn't scale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81635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icons/lightbulb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51" y="2969423"/>
            <a:ext cx="260787" cy="2607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7432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Project Objectives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310896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build and prove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86791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icons/diagram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151" y="4020983"/>
            <a:ext cx="260787" cy="2607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7947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System Architecture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41605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from question to answer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91947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3" descr="icons/cog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151" y="5072543"/>
            <a:ext cx="260787" cy="26078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8463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Technology Stack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17320" y="5212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and services powering the system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63640" y="176479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4" descr="icons/rocke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6711" y="1917863"/>
            <a:ext cx="260787" cy="26078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40880" y="16916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Key Features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7040880" y="20574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chatbot can actually do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263640" y="281635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5" descr="icons/chart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6711" y="2969423"/>
            <a:ext cx="260787" cy="26078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40880" y="27432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Evaluation &amp; Results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7040880" y="310896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measured retrieval &amp; generation quality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263640" y="386791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9" name="Image 6" descr="icons/flask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6711" y="4020983"/>
            <a:ext cx="260787" cy="260787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040880" y="37947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Challenges &amp; Future Work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7040880" y="41605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and what's next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263640" y="491947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3" name="Image 7" descr="icons/users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6711" y="5072543"/>
            <a:ext cx="260787" cy="260787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040880" y="48463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The Team</a:t>
            </a:r>
            <a:endParaRPr lang="en-US" sz="1600" dirty="0"/>
          </a:p>
        </p:txBody>
      </p:sp>
      <p:sp>
        <p:nvSpPr>
          <p:cNvPr id="35" name="Text 25"/>
          <p:cNvSpPr/>
          <p:nvPr/>
        </p:nvSpPr>
        <p:spPr>
          <a:xfrm>
            <a:off x="7040880" y="5212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built it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file thousands of financial complaints every day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banks, lenders and credit bureaus — but the raw text is unstructured, repetitive, and scattered.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and understanding this data manually is slow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doesn't scale — analysts need hours to find similar past cases or spot recurring issues.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simple way to just ask a question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get a grounded, natural-language answer drawn from real complaint records.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78040" y="1417320"/>
            <a:ext cx="4343400" cy="1280160"/>
          </a:xfrm>
          <a:prstGeom prst="roundRect">
            <a:avLst>
              <a:gd name="adj" fmla="val 7143"/>
            </a:avLst>
          </a:prstGeom>
          <a:solidFill>
            <a:srgbClr val="E8F1F5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1527048"/>
            <a:ext cx="173736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052560" y="1527048"/>
            <a:ext cx="224028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records processed into the corpus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178040" y="2953512"/>
            <a:ext cx="4343400" cy="1280160"/>
          </a:xfrm>
          <a:prstGeom prst="roundRect">
            <a:avLst>
              <a:gd name="adj" fmla="val 7143"/>
            </a:avLst>
          </a:prstGeom>
          <a:solidFill>
            <a:srgbClr val="E8F1F5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0" y="3063240"/>
            <a:ext cx="173736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052560" y="3063240"/>
            <a:ext cx="224028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free-text narratives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178040" y="4489704"/>
            <a:ext cx="4343400" cy="1280160"/>
          </a:xfrm>
          <a:prstGeom prst="roundRect">
            <a:avLst>
              <a:gd name="adj" fmla="val 7143"/>
            </a:avLst>
          </a:prstGeom>
          <a:solidFill>
            <a:srgbClr val="E8F1F5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4599432"/>
            <a:ext cx="173736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052560" y="4599432"/>
            <a:ext cx="224028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for natural-language Q&amp;A over the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78040" y="5486400"/>
            <a:ext cx="4343400" cy="777240"/>
          </a:xfrm>
          <a:prstGeom prst="roundRect">
            <a:avLst>
              <a:gd name="adj" fmla="val 11765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548640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an intelligent assistant that reads the whole corpus for you.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Complaint Intelligence set out to achieve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1623060" y="20574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comment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570" y="2254910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718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Q&amp;A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65760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ask natural-language questions and get grounded answers drawn from real complaint records.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57016" y="173736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4F8FA"/>
          </a:solidFill>
          <a:ln/>
        </p:spPr>
      </p:sp>
      <p:sp>
        <p:nvSpPr>
          <p:cNvPr id="10" name="Shape 7"/>
          <p:cNvSpPr/>
          <p:nvPr/>
        </p:nvSpPr>
        <p:spPr>
          <a:xfrm>
            <a:off x="4539996" y="20574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search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506" y="2254910"/>
            <a:ext cx="336499" cy="3364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39896" y="29718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85616" y="365760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most relevant complaints for a query using vector similarity search, not keyword matching.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73952" y="173736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E8F1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456932" y="20574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char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4442" y="2254910"/>
            <a:ext cx="336499" cy="33649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56832" y="29718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Quality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702552" y="365760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pipeline with standard NLP and retrieval metrics — ROUGE, BLEU, Recall@K, and MRR.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390888" y="173736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4F8FA"/>
          </a:solidFill>
          <a:ln/>
        </p:spPr>
      </p:sp>
      <p:sp>
        <p:nvSpPr>
          <p:cNvPr id="20" name="Shape 15"/>
          <p:cNvSpPr/>
          <p:nvPr/>
        </p:nvSpPr>
        <p:spPr>
          <a:xfrm>
            <a:off x="10373868" y="20574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ons/serve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1378" y="2254910"/>
            <a:ext cx="336499" cy="33649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73768" y="29718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API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619488" y="365760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the whole pipeline through a clean, documented FastAPI service ready to plug into a frontend.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user's question to a grounded, sourced answer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5168" y="233172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5248" y="2560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comment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069" y="273314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6608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6608" y="36301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the FastAPI /chat endpoint</a:t>
            </a:r>
            <a:endParaRPr lang="en-US" sz="950" dirty="0"/>
          </a:p>
        </p:txBody>
      </p:sp>
      <p:pic>
        <p:nvPicPr>
          <p:cNvPr id="9" name="Image 1" descr="icons/exchang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3696" y="3145536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95448" y="233172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535528" y="2560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icons/searc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8349" y="2733142"/>
            <a:ext cx="294437" cy="2944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86888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2986888" y="36301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the query (Voyage AI) &amp; searches Pinecone</a:t>
            </a:r>
            <a:endParaRPr lang="en-US" sz="950" dirty="0"/>
          </a:p>
        </p:txBody>
      </p:sp>
      <p:pic>
        <p:nvPicPr>
          <p:cNvPr id="15" name="Image 3" descr="icons/exchang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976" y="3145536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135728" y="233172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775808" y="2560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4" descr="icons/databas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8629" y="2733142"/>
            <a:ext cx="294437" cy="29443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27168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5227168" y="36301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similar complaints returned</a:t>
            </a:r>
            <a:endParaRPr lang="en-US" sz="950" dirty="0"/>
          </a:p>
        </p:txBody>
      </p:sp>
      <p:pic>
        <p:nvPicPr>
          <p:cNvPr id="21" name="Image 5" descr="icons/exchang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4256" y="3145536"/>
            <a:ext cx="292608" cy="29260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376008" y="233172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8016088" y="2560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6" descr="icons/robo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8909" y="2733142"/>
            <a:ext cx="294437" cy="294437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467448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Chain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7467448" y="36301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model chain generates the answer</a:t>
            </a:r>
            <a:endParaRPr lang="en-US" sz="950" dirty="0"/>
          </a:p>
        </p:txBody>
      </p:sp>
      <p:pic>
        <p:nvPicPr>
          <p:cNvPr id="27" name="Image 7" descr="icons/exchang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4536" y="3145536"/>
            <a:ext cx="292608" cy="292608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616288" y="233172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10256368" y="2560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8" descr="icons/chec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9189" y="2733142"/>
            <a:ext cx="294437" cy="294437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707728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Sources</a:t>
            </a:r>
            <a:endParaRPr lang="en-US" sz="1300" dirty="0"/>
          </a:p>
        </p:txBody>
      </p:sp>
      <p:sp>
        <p:nvSpPr>
          <p:cNvPr id="32" name="Text 21"/>
          <p:cNvSpPr/>
          <p:nvPr/>
        </p:nvSpPr>
        <p:spPr>
          <a:xfrm>
            <a:off x="9707728" y="36301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to the user with citations</a:t>
            </a:r>
            <a:endParaRPr lang="en-US" sz="950" dirty="0"/>
          </a:p>
        </p:txBody>
      </p:sp>
      <p:sp>
        <p:nvSpPr>
          <p:cNvPr id="33" name="Shape 22"/>
          <p:cNvSpPr/>
          <p:nvPr/>
        </p:nvSpPr>
        <p:spPr>
          <a:xfrm>
            <a:off x="655168" y="470916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34" name="Text 23"/>
          <p:cNvSpPr/>
          <p:nvPr/>
        </p:nvSpPr>
        <p:spPr>
          <a:xfrm>
            <a:off x="929488" y="4709160"/>
            <a:ext cx="10332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</a:t>
            </a:r>
            <a:r>
              <a:rPr lang="en-US" sz="12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AI (voyage-3)   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DB: </a:t>
            </a:r>
            <a:r>
              <a:rPr lang="en-US" sz="12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(serverless)   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Generation: </a:t>
            </a:r>
            <a:r>
              <a:rPr lang="en-US" sz="12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(free model chain w/ fallback)</a:t>
            </a:r>
            <a:endParaRPr lang="en-US" sz="1250" dirty="0"/>
          </a:p>
        </p:txBody>
      </p:sp>
      <p:sp>
        <p:nvSpPr>
          <p:cNvPr id="35" name="Text 2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and services behind Complaint Intelligence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1595628" y="1947672"/>
            <a:ext cx="694944" cy="69494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serv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263" y="2135307"/>
            <a:ext cx="319674" cy="3196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889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1546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REST API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47288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4F8FA"/>
          </a:solidFill>
          <a:ln/>
        </p:spPr>
      </p:sp>
      <p:sp>
        <p:nvSpPr>
          <p:cNvPr id="10" name="Shape 7"/>
          <p:cNvSpPr/>
          <p:nvPr/>
        </p:nvSpPr>
        <p:spPr>
          <a:xfrm>
            <a:off x="4402836" y="1947672"/>
            <a:ext cx="694944" cy="69494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diagram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471" y="2135307"/>
            <a:ext cx="319674" cy="3196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27889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38728" y="31546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orchestration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54496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8F1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210044" y="1947672"/>
            <a:ext cx="694944" cy="69494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s/datab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679" y="2135307"/>
            <a:ext cx="319674" cy="3196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5936" y="27889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45936" y="31546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vector store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61704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4F8FA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17252" y="1947672"/>
            <a:ext cx="694944" cy="69494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s/brai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4887" y="2135307"/>
            <a:ext cx="319674" cy="3196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53144" y="27889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AI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53144" y="31546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embeddings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3886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4F8FA"/>
          </a:solidFill>
          <a:ln/>
        </p:spPr>
      </p:sp>
      <p:sp>
        <p:nvSpPr>
          <p:cNvPr id="25" name="Shape 19"/>
          <p:cNvSpPr/>
          <p:nvPr/>
        </p:nvSpPr>
        <p:spPr>
          <a:xfrm>
            <a:off x="1595628" y="4142232"/>
            <a:ext cx="694944" cy="69494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icons/clou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3263" y="4329867"/>
            <a:ext cx="319674" cy="3196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4983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31520" y="5349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 chain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447288" y="3886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8F1F5"/>
          </a:solidFill>
          <a:ln/>
        </p:spPr>
      </p:sp>
      <p:sp>
        <p:nvSpPr>
          <p:cNvPr id="30" name="Shape 23"/>
          <p:cNvSpPr/>
          <p:nvPr/>
        </p:nvSpPr>
        <p:spPr>
          <a:xfrm>
            <a:off x="4402836" y="4142232"/>
            <a:ext cx="694944" cy="69494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icons/react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0471" y="4329867"/>
            <a:ext cx="319674" cy="31967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38728" y="4983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3538728" y="5349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254496" y="3886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4F8FA"/>
          </a:solidFill>
          <a:ln/>
        </p:spPr>
      </p:sp>
      <p:sp>
        <p:nvSpPr>
          <p:cNvPr id="35" name="Shape 27"/>
          <p:cNvSpPr/>
          <p:nvPr/>
        </p:nvSpPr>
        <p:spPr>
          <a:xfrm>
            <a:off x="7210044" y="4142232"/>
            <a:ext cx="694944" cy="69494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6" descr="icons/python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7679" y="4329867"/>
            <a:ext cx="319674" cy="31967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45936" y="4983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Pandas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6345936" y="5349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061704" y="3886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8F1F5"/>
          </a:solidFill>
          <a:ln/>
        </p:spPr>
      </p:sp>
      <p:sp>
        <p:nvSpPr>
          <p:cNvPr id="40" name="Shape 31"/>
          <p:cNvSpPr/>
          <p:nvPr/>
        </p:nvSpPr>
        <p:spPr>
          <a:xfrm>
            <a:off x="10017252" y="4142232"/>
            <a:ext cx="694944" cy="69494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7" descr="icons/chart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4887" y="4329867"/>
            <a:ext cx="319674" cy="31967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53144" y="4983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/ BLEU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9153144" y="5349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icons/comment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57" y="1623517"/>
            <a:ext cx="273406" cy="2734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173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Chat Endpoint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417320" y="1801368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free-form questions about the complaint corpus and get a natural-language answer with cited sources.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40080" y="28803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1" descr="icons/search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57" y="3040837"/>
            <a:ext cx="273406" cy="2734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8346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Retrieval-Only Mode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417320" y="3218688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exactly which documents the vector store returns for a query, independent of generation.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42976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icons/exchang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557" y="4458157"/>
            <a:ext cx="273406" cy="27340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2519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Fallback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417320" y="4636008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OpenRouter model fails, the chain automatically retries the next — the chat never goes down.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537960" y="14630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3" descr="icons/char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8437" y="1623517"/>
            <a:ext cx="273406" cy="27340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0" y="14173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Evaluation Suite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7315200" y="1801368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quality (ROUGE/BLEU) and retrieval quality (Recall@K, MRR) can be measured on demand.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537960" y="28803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4" descr="icons/flask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8437" y="3040837"/>
            <a:ext cx="273406" cy="27340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315200" y="28346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Experiments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7315200" y="3218688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prompt versions, embedding models, chunk sizes, and retrieval strategies side by side.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537960" y="42976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5" descr="icons/cogs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8437" y="4458157"/>
            <a:ext cx="273406" cy="27340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315200" y="42519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Config Endpoint</a:t>
            </a:r>
            <a:endParaRPr lang="en-US" sz="1450" dirty="0"/>
          </a:p>
        </p:txBody>
      </p:sp>
      <p:sp>
        <p:nvSpPr>
          <p:cNvPr id="26" name="Text 18"/>
          <p:cNvSpPr/>
          <p:nvPr/>
        </p:nvSpPr>
        <p:spPr>
          <a:xfrm>
            <a:off x="7315200" y="4636008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reports vector-store readiness and which backends/models are currently configured.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Metrics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evaluation tracks measure the pipeline end to 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robo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3" y="211409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11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Quality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60120" y="2798064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2651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 / ROUGE-L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234440" y="297180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between the model's answer and a reference answer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60120" y="3758184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36118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Sentence-BLEU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234440" y="39319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precision of the generated answer, smoothed for short text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60120" y="4718304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1234440" y="45720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234440" y="48920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question to answer, tracked per query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72200" y="169164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4F8FA"/>
          </a:solidFill>
          <a:ln/>
        </p:spPr>
      </p:sp>
      <p:sp>
        <p:nvSpPr>
          <p:cNvPr id="18" name="Shape 15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1" descr="icons/search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653" y="2114093"/>
            <a:ext cx="252374" cy="25237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32320" y="201168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6492240" y="279806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18"/>
          <p:cNvSpPr/>
          <p:nvPr/>
        </p:nvSpPr>
        <p:spPr>
          <a:xfrm>
            <a:off x="6766560" y="26517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 (K = 1, 3, 5)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6766560" y="297180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relevant complaints found in the top-K retrieved results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492240" y="375818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1"/>
          <p:cNvSpPr/>
          <p:nvPr/>
        </p:nvSpPr>
        <p:spPr>
          <a:xfrm>
            <a:off x="6766560" y="361188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6766560" y="393192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Reciprocal Rank — rewards relevant results appearing earlier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492240" y="471830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4"/>
          <p:cNvSpPr/>
          <p:nvPr/>
        </p:nvSpPr>
        <p:spPr>
          <a:xfrm>
            <a:off x="6766560" y="45720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fixed test queries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6766560" y="489204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built programmatically from company / issue filters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Future Work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E8F1F5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828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flas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3" y="1976933"/>
            <a:ext cx="252374" cy="2523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874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60120" y="2569464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1234440" y="2386584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LLM rate limits required building an automatic model fallback chain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60120" y="341071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3227832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chunk size / overlap involved real trade-offs between context and precision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60120" y="4251960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406908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fair retrieval ground truth without manual labels for 5,000+ complaints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60120" y="5093208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1234440" y="4910328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experiments isolated from production data using disposable Pinecone namespaces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17920" y="155448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4F8FA"/>
          </a:solidFill>
          <a:ln/>
        </p:spPr>
      </p:sp>
      <p:sp>
        <p:nvSpPr>
          <p:cNvPr id="16" name="Shape 13"/>
          <p:cNvSpPr/>
          <p:nvPr/>
        </p:nvSpPr>
        <p:spPr>
          <a:xfrm>
            <a:off x="6537960" y="1828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1" descr="icons/rock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093" y="1976933"/>
            <a:ext cx="252374" cy="25237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23760" y="1874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537960" y="256946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6"/>
          <p:cNvSpPr/>
          <p:nvPr/>
        </p:nvSpPr>
        <p:spPr>
          <a:xfrm>
            <a:off x="6812280" y="2386584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corpus beyond 5,000 complaints for broader topic coverage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537960" y="341071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18"/>
          <p:cNvSpPr/>
          <p:nvPr/>
        </p:nvSpPr>
        <p:spPr>
          <a:xfrm>
            <a:off x="6812280" y="3227832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conversation memory for multi-turn, context-aware follow-up questions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537960" y="425196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0"/>
          <p:cNvSpPr/>
          <p:nvPr/>
        </p:nvSpPr>
        <p:spPr>
          <a:xfrm>
            <a:off x="6812280" y="406908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additional languages for a wider range of consumers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537960" y="509320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2"/>
          <p:cNvSpPr/>
          <p:nvPr/>
        </p:nvSpPr>
        <p:spPr>
          <a:xfrm>
            <a:off x="6812280" y="4910328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re-ranking step on top of vector search to sharpen top-K precision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065A82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645920"/>
            <a:ext cx="3840480" cy="38404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Intelligence — NTI Graduation Project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2084832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30175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453896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3931920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Hany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072384" y="2743200"/>
            <a:ext cx="2084832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30175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118104" y="3931920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Mostafa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321808" y="2743200"/>
            <a:ext cx="2084832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52744" y="30175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952744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67528" y="3931920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Ahmed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71232" y="2743200"/>
            <a:ext cx="2084832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02168" y="30175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202168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616952" y="3931920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Moaz Reda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820656" y="2743200"/>
            <a:ext cx="2084832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51592" y="30175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10451592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866376" y="3931920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Mohamed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" y="5029200"/>
            <a:ext cx="105156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257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960" y="5715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feedback on the RAG pipeline, evaluation approach, and next steps.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</Words>
  <Application>Microsoft Office PowerPoint</Application>
  <PresentationFormat>Widescreen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1</cp:revision>
  <dcterms:created xsi:type="dcterms:W3CDTF">2026-07-22T21:38:55Z</dcterms:created>
  <dcterms:modified xsi:type="dcterms:W3CDTF">2026-07-23T16:06:17Z</dcterms:modified>
</cp:coreProperties>
</file>