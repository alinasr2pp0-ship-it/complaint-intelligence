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0C7A9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0" y="548640"/>
            <a:ext cx="54864" cy="54864"/>
          </a:xfrm>
          <a:prstGeom prst="ellipse">
            <a:avLst/>
          </a:prstGeom>
          <a:solidFill>
            <a:srgbClr val="0C7A94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0C7A9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548640"/>
            <a:ext cx="54864" cy="54864"/>
          </a:xfrm>
          <a:prstGeom prst="ellipse">
            <a:avLst/>
          </a:prstGeom>
          <a:solidFill>
            <a:srgbClr val="0C7A94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548640"/>
            <a:ext cx="54864" cy="54864"/>
          </a:xfrm>
          <a:prstGeom prst="ellipse">
            <a:avLst/>
          </a:prstGeom>
          <a:solidFill>
            <a:srgbClr val="0C7A9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Complaints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Chatbot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Retrieval-Augmented Generation System for Consumer Complaint 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1028700" cy="384048"/>
          </a:xfrm>
          <a:prstGeom prst="roundRect">
            <a:avLst>
              <a:gd name="adj" fmla="val 50000"/>
            </a:avLst>
          </a:prstGeom>
          <a:solidFill>
            <a:srgbClr val="132449"/>
          </a:solidFill>
          <a:ln w="12700">
            <a:solidFill>
              <a:srgbClr val="0C7A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06240"/>
            <a:ext cx="10287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6252" y="420624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132449"/>
          </a:solidFill>
          <a:ln w="12700">
            <a:solidFill>
              <a:srgbClr val="0C7A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6252" y="4206240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Pinecone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4700" y="4206240"/>
            <a:ext cx="1239012" cy="384048"/>
          </a:xfrm>
          <a:prstGeom prst="roundRect">
            <a:avLst>
              <a:gd name="adj" fmla="val 50000"/>
            </a:avLst>
          </a:prstGeom>
          <a:solidFill>
            <a:srgbClr val="132449"/>
          </a:solidFill>
          <a:ln w="12700">
            <a:solidFill>
              <a:srgbClr val="0C7A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4700" y="4206240"/>
            <a:ext cx="12390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 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18304" y="4206240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32449"/>
          </a:solidFill>
          <a:ln w="12700">
            <a:solidFill>
              <a:srgbClr val="0C7A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4206240"/>
            <a:ext cx="1344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OpenRouter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27064" y="4206240"/>
            <a:ext cx="1239012" cy="384048"/>
          </a:xfrm>
          <a:prstGeom prst="roundRect">
            <a:avLst>
              <a:gd name="adj" fmla="val 50000"/>
            </a:avLst>
          </a:prstGeom>
          <a:solidFill>
            <a:srgbClr val="132449"/>
          </a:solidFill>
          <a:ln w="12700">
            <a:solidFill>
              <a:srgbClr val="0C7A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4206240"/>
            <a:ext cx="12390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30668" y="4206240"/>
            <a:ext cx="818388" cy="384048"/>
          </a:xfrm>
          <a:prstGeom prst="roundRect">
            <a:avLst>
              <a:gd name="adj" fmla="val 50000"/>
            </a:avLst>
          </a:prstGeom>
          <a:solidFill>
            <a:srgbClr val="132449"/>
          </a:solidFill>
          <a:ln w="12700">
            <a:solidFill>
              <a:srgbClr val="0C7A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0668" y="4206240"/>
            <a:ext cx="8183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074920"/>
            <a:ext cx="5029200" cy="0"/>
          </a:xfrm>
          <a:prstGeom prst="line">
            <a:avLst/>
          </a:prstGeom>
          <a:noFill/>
          <a:ln w="12700">
            <a:solidFill>
              <a:srgbClr val="1B2E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  →  Understand  →  Generate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897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614476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Zaki   •   Moaz Reda   •   Hassan Mohamed   •   Mohamed Hany   •   Ahmed Mostafa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Consumer Complaint Analysis Is Difficult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raw text complaints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Unstructured, inconsistent data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and legally complex narratives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names and case-specific jargon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alone falls short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3244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59612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search matches words — it doesn't understand meaning.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SEARCH PATH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205740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05740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23960" y="2624328"/>
            <a:ext cx="0" cy="29260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2916936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91693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23960" y="3483864"/>
            <a:ext cx="0" cy="29260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92240" y="3776472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776472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Words Only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23960" y="4343400"/>
            <a:ext cx="0" cy="29260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92240" y="4636008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63600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Results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B2E5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meaning behind the question.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0" y="17373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965960"/>
            <a:ext cx="502920" cy="502920"/>
          </a:xfrm>
          <a:prstGeom prst="ellipse">
            <a:avLst/>
          </a:prstGeom>
          <a:solidFill>
            <a:srgbClr val="1B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4340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most relevant complaints.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17373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09560" y="1965960"/>
            <a:ext cx="502920" cy="502920"/>
          </a:xfrm>
          <a:prstGeom prst="ellipse">
            <a:avLst/>
          </a:prstGeom>
          <a:solidFill>
            <a:srgbClr val="1B2E5C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90956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0956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natural answer grounded in retrieved data.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244727" cy="777240"/>
          </a:xfrm>
          <a:prstGeom prst="roundRect">
            <a:avLst>
              <a:gd name="adj" fmla="val 823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4114800"/>
            <a:ext cx="1171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93367" y="4498848"/>
            <a:ext cx="146304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957959" y="4114800"/>
            <a:ext cx="1244727" cy="777240"/>
          </a:xfrm>
          <a:prstGeom prst="roundRect">
            <a:avLst>
              <a:gd name="adj" fmla="val 823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4535" y="4114800"/>
            <a:ext cx="1171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 Embedding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2686" y="4498848"/>
            <a:ext cx="146304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367278" y="4114800"/>
            <a:ext cx="1244727" cy="777240"/>
          </a:xfrm>
          <a:prstGeom prst="roundRect">
            <a:avLst>
              <a:gd name="adj" fmla="val 823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3854" y="4114800"/>
            <a:ext cx="1171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Representation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2005" y="4498848"/>
            <a:ext cx="146304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76597" y="4114800"/>
            <a:ext cx="1244727" cy="777240"/>
          </a:xfrm>
          <a:prstGeom prst="roundRect">
            <a:avLst>
              <a:gd name="adj" fmla="val 823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3173" y="4114800"/>
            <a:ext cx="1171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Similarity 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21324" y="4498848"/>
            <a:ext cx="146304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85916" y="4114800"/>
            <a:ext cx="1244727" cy="777240"/>
          </a:xfrm>
          <a:prstGeom prst="roundRect">
            <a:avLst>
              <a:gd name="adj" fmla="val 823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2492" y="4114800"/>
            <a:ext cx="1171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Complaints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30643" y="4498848"/>
            <a:ext cx="146304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95235" y="4114800"/>
            <a:ext cx="1244727" cy="777240"/>
          </a:xfrm>
          <a:prstGeom prst="roundRect">
            <a:avLst>
              <a:gd name="adj" fmla="val 823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1811" y="4114800"/>
            <a:ext cx="1171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39962" y="4498848"/>
            <a:ext cx="146304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004554" y="4114800"/>
            <a:ext cx="1244727" cy="777240"/>
          </a:xfrm>
          <a:prstGeom prst="roundRect">
            <a:avLst>
              <a:gd name="adj" fmla="val 823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41130" y="4114800"/>
            <a:ext cx="1171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LLM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249281" y="4498848"/>
            <a:ext cx="146304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413873" y="4114800"/>
            <a:ext cx="1244727" cy="777240"/>
          </a:xfrm>
          <a:prstGeom prst="roundRect">
            <a:avLst>
              <a:gd name="adj" fmla="val 8235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50449" y="4114800"/>
            <a:ext cx="1171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+ Sources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answers from memory alone — every response is grounded in retrieved, cited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169768" y="169164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69768" y="17190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169768" y="20574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95848" y="2350008"/>
            <a:ext cx="0" cy="32004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69768" y="2670048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9768" y="2670048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API Layer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95848" y="3328416"/>
            <a:ext cx="0" cy="32004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69768" y="3648456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9768" y="3648456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Business Logic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169768" y="4626864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9768" y="462686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70168" y="4626864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0168" y="462686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— Pinecone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95648" y="5266944"/>
            <a:ext cx="0" cy="29260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96048" y="5266944"/>
            <a:ext cx="0" cy="29260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69768" y="5559552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9768" y="5559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70168" y="5559552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0168" y="5559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SYSTEMS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31720" y="6199632"/>
            <a:ext cx="1005840" cy="329184"/>
          </a:xfrm>
          <a:prstGeom prst="roundRect">
            <a:avLst>
              <a:gd name="adj" fmla="val 50000"/>
            </a:avLst>
          </a:prstGeom>
          <a:ln w="12700">
            <a:solidFill>
              <a:srgbClr val="90A4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61996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0" y="6199632"/>
            <a:ext cx="8229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90A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619963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34840" y="6199632"/>
            <a:ext cx="1371600" cy="329184"/>
          </a:xfrm>
          <a:prstGeom prst="roundRect">
            <a:avLst>
              <a:gd name="adj" fmla="val 50000"/>
            </a:avLst>
          </a:prstGeom>
          <a:ln w="12700">
            <a:solidFill>
              <a:srgbClr val="90A4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61996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0" y="6199632"/>
            <a:ext cx="1554480" cy="329184"/>
          </a:xfrm>
          <a:prstGeom prst="roundRect">
            <a:avLst>
              <a:gd name="adj" fmla="val 50000"/>
            </a:avLst>
          </a:prstGeom>
          <a:ln w="12700">
            <a:solidFill>
              <a:srgbClr val="90A4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61996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Project Structure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4572000"/>
          </a:xfrm>
          <a:prstGeom prst="roundRect">
            <a:avLst>
              <a:gd name="adj" fmla="val 14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379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8379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837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75688"/>
            <a:ext cx="4663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core/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evaluation/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optimization/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rag/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utils/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vector_store/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05740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13244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057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one clear responsibility.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ACHIEVES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56616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36850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9632" y="4069080"/>
            <a:ext cx="2368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99632" y="4361688"/>
            <a:ext cx="2368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focused modules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5400" y="356616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9992" y="36850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79992" y="4069080"/>
            <a:ext cx="2368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79992" y="4361688"/>
            <a:ext cx="2368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components independently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49834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5102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99632" y="5486400"/>
            <a:ext cx="2368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99632" y="5779008"/>
            <a:ext cx="2368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tested in isolation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15400" y="49834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79992" y="5102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079992" y="5486400"/>
            <a:ext cx="2368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79992" y="5779008"/>
            <a:ext cx="2368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development, few conflicts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CSV to Vector Database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299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2468880"/>
            <a:ext cx="0" cy="13258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01468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014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3040380"/>
            <a:ext cx="0" cy="13258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172968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729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3611880"/>
            <a:ext cx="0" cy="13258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744468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444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Documents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4183380"/>
            <a:ext cx="0" cy="13258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315968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159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 Embeddings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08960" y="4754880"/>
            <a:ext cx="0" cy="13258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887468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8874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1024-Dimensional Vectors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0" y="5326380"/>
            <a:ext cx="0" cy="132588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5458968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4589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Index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DATA_LOADER.PY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029968"/>
            <a:ext cx="5577840" cy="2834640"/>
          </a:xfrm>
          <a:prstGeom prst="roundRect">
            <a:avLst>
              <a:gd name="adj" fmla="val 2258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21762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2512" y="21762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6565392" y="21762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414016"/>
            <a:ext cx="51206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pd.read_csv(path)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page_content=row["rag_document"],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metadata={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"complaint_id": row["Complaint ID"],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"company": row["Company"]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507492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507492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becomes a self-contained document with rich metadata — enabling both semantic retrieval and precise source citation.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REPRESENTATION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&amp; Vector Storage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EMBEDDINGS?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120640" cy="1005840"/>
          </a:xfrm>
          <a:prstGeom prst="roundRect">
            <a:avLst>
              <a:gd name="adj" fmla="val 6364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579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21579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" y="21579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957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"Identity theft caused an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incorrect debt"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3127248"/>
            <a:ext cx="0" cy="256032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474720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6210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36210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8992" y="36210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587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-0.44, 0.87, ..., 0.21]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4632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5120640"/>
            <a:ext cx="164592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874520" y="484632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484632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Voyage-3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17520" y="5120640"/>
            <a:ext cx="164592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00400" y="484632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484632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Dims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5120640"/>
            <a:ext cx="164592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26280" y="484632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484632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PINECONE?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05740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Hosted, fully-managed vector database</a:t>
            </a:r>
            <a:endParaRPr lang="en-US" sz="145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without infrastructure overhead</a:t>
            </a:r>
            <a:endParaRPr lang="en-US" sz="145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storage required</a:t>
            </a:r>
            <a:endParaRPr lang="en-US" sz="145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approximate similarity search</a:t>
            </a:r>
            <a:endParaRPr lang="en-US" sz="145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— deploys anywhere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035040" y="484632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13244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263640" y="5413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per vector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Finds Relevant Complaints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13244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299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was a debt incorrectly reported?"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17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3520440"/>
            <a:ext cx="0" cy="256032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77647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764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DOCUMENTS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548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12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692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CONFIGURATION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057400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22037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6382512" y="22037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565392" y="22037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441448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RETRIEVER_TOP_K = 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RETRIEVER_SEARCH_TYPE = "similarity"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3520440"/>
            <a:ext cx="5577840" cy="2606040"/>
          </a:xfrm>
          <a:prstGeom prst="roundRect">
            <a:avLst>
              <a:gd name="adj" fmla="val 3509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Top-K = 3?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63640" y="402336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context for grounded answers</a:t>
            </a:r>
            <a:endParaRPr lang="en-US" sz="130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prompts focused — less noise</a:t>
            </a:r>
            <a:endParaRPr lang="en-US" sz="130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recall vs. latency &amp; cost</a:t>
            </a:r>
            <a:endParaRPr lang="en-US" sz="130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per query type during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Question 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2560320"/>
            <a:ext cx="0" cy="16916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72948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2948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Retrieve Documents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3232404"/>
            <a:ext cx="0" cy="16916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40156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015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Format Context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3904488"/>
            <a:ext cx="0" cy="16916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07365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736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Prompt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4576572"/>
            <a:ext cx="0" cy="16916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74573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4573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Call LLM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5248656"/>
            <a:ext cx="0" cy="16916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4178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4178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Return Answer + Sources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LOGIC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057400"/>
            <a:ext cx="5577840" cy="2606040"/>
          </a:xfrm>
          <a:prstGeom prst="roundRect">
            <a:avLst>
              <a:gd name="adj" fmla="val 2456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22037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6382512" y="22037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565392" y="22037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441448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retriever.invoke(question)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format_docs(docs)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generate_answer_from_context({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"context": context,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"question": question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035040" y="489204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3244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89204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explicit steps — every answer is traceable end-to-end, from question to cited source.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+ Question → Controlled Answer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92240" cy="4572000"/>
          </a:xfrm>
          <a:prstGeom prst="roundRect">
            <a:avLst>
              <a:gd name="adj" fmla="val 14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379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8379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837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75688"/>
            <a:ext cx="6035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expert customer support AI assistant.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the retrieved information as background knowledge.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invent facts.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 not available, say you don't know.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{retrieved_documents}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{user_question}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— PREVENT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21031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1031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0" y="210312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60920" y="27889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7889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0" y="278892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Mentioning internal context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60920" y="34747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34747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63840" y="347472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answers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41605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41605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63840" y="416052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claims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60920" y="498348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49834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prompting keeps generation grounded and auditable — a requirement for consumer-facing financial data.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Fault-Tolerant Generation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 ↓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2608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 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493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 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 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4315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 ↓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720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 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057400"/>
            <a:ext cx="5577840" cy="2331720"/>
          </a:xfrm>
          <a:prstGeom prst="roundRect">
            <a:avLst>
              <a:gd name="adj" fmla="val 2745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22037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22037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565392" y="22037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441448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model in MODEL_CHAIN: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_call_openrouter(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prompt, model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457200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132449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690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95604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availability ↑ — even if one model fails, the system keeps operating.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109960" cy="566928"/>
          </a:xfrm>
          <a:prstGeom prst="roundRect">
            <a:avLst>
              <a:gd name="adj" fmla="val 11290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47088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4708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/api/v1/chat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737360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question, get a grounded answer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11109960" cy="566928"/>
          </a:xfrm>
          <a:prstGeom prst="roundRect">
            <a:avLst>
              <a:gd name="adj" fmla="val 11290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505456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50545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91640" y="239572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/api/v1/retrieve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395728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top-K similar complaints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11109960" cy="566928"/>
          </a:xfrm>
          <a:prstGeom prst="roundRect">
            <a:avLst>
              <a:gd name="adj" fmla="val 11290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163824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6382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91640" y="305409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/api/v1/health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3054096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system readiness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12464"/>
            <a:ext cx="11109960" cy="566928"/>
          </a:xfrm>
          <a:prstGeom prst="roundRect">
            <a:avLst>
              <a:gd name="adj" fmla="val 11290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822192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8221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91640" y="371246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/evaluation/generation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3712464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quality metrics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370832"/>
            <a:ext cx="11109960" cy="566928"/>
          </a:xfrm>
          <a:prstGeom prst="roundRect">
            <a:avLst>
              <a:gd name="adj" fmla="val 11290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480560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4ADE80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4805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91640" y="437083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/evaluation/retrieval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0" y="4370832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metrics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11109960" cy="566928"/>
          </a:xfrm>
          <a:prstGeom prst="roundRect">
            <a:avLst>
              <a:gd name="adj" fmla="val 11290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5138928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00D9FF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513892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91640" y="502920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/evaluation/qualitative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52160" y="5029200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qualitative test set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687568"/>
            <a:ext cx="11109960" cy="566928"/>
          </a:xfrm>
          <a:prstGeom prst="roundRect">
            <a:avLst>
              <a:gd name="adj" fmla="val 11290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5797296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4ADE80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79729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691640" y="56875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/evaluation/summary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852160" y="5687568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evaluation report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/chat — Request Lifecycle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299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17520" y="2414016"/>
            <a:ext cx="0" cy="10058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14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ChatRequest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17520" y="2898648"/>
            <a:ext cx="0" cy="10058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999232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9923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17520" y="3383280"/>
            <a:ext cx="0" cy="10058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483864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8386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chat_service.py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17520" y="3867912"/>
            <a:ext cx="0" cy="10058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968496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6849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get_retriever()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17520" y="4352544"/>
            <a:ext cx="0" cy="10058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453128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5312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17520" y="4837176"/>
            <a:ext cx="0" cy="10058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4937760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9377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Chain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17520" y="5321808"/>
            <a:ext cx="0" cy="10058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5422392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42239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017520" y="5806440"/>
            <a:ext cx="0" cy="100584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48640" y="5907024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90702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ChatResponse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SHAPE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2057400"/>
            <a:ext cx="5577840" cy="3566160"/>
          </a:xfrm>
          <a:prstGeom prst="roundRect">
            <a:avLst>
              <a:gd name="adj" fmla="val 1795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22037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6" name="Shape 34"/>
          <p:cNvSpPr/>
          <p:nvPr/>
        </p:nvSpPr>
        <p:spPr>
          <a:xfrm>
            <a:off x="6382512" y="22037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7" name="Shape 35"/>
          <p:cNvSpPr/>
          <p:nvPr/>
        </p:nvSpPr>
        <p:spPr>
          <a:xfrm>
            <a:off x="6565392" y="22037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2441448"/>
            <a:ext cx="51206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"...",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"question": "...",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"sources": [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"complaint_id": "...",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"company": "...",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"snippet": "..."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35040" y="5760720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57607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has a single, testable responsibility.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RELIABILITY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Observability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HIERARCHY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21031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103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AppException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2606040"/>
            <a:ext cx="0" cy="22860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834640"/>
            <a:ext cx="0" cy="13716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97180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9718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VectorStoreNotReadyError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2834640"/>
            <a:ext cx="0" cy="13716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14600" y="297180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29718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GenerationError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2834640"/>
            <a:ext cx="0" cy="13716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297180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29718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ConfigurationError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37360" y="2606040"/>
            <a:ext cx="3520440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0624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API Key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08960" y="4645152"/>
            <a:ext cx="0" cy="164592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4809744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809744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ConfigurationError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108960" y="5248656"/>
            <a:ext cx="0" cy="164592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5413248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41324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057400"/>
            <a:ext cx="5577840" cy="1600200"/>
          </a:xfrm>
          <a:prstGeom prst="roundRect">
            <a:avLst>
              <a:gd name="adj" fmla="val 40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22037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2" name="Shape 30"/>
          <p:cNvSpPr/>
          <p:nvPr/>
        </p:nvSpPr>
        <p:spPr>
          <a:xfrm>
            <a:off x="6382512" y="22037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3" name="Shape 31"/>
          <p:cNvSpPr/>
          <p:nvPr/>
        </p:nvSpPr>
        <p:spPr>
          <a:xfrm>
            <a:off x="6565392" y="22037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441448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2026-07-23 12:30:01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app.rag.chain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Answered via OpenRouter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3886200"/>
            <a:ext cx="5577840" cy="2240280"/>
          </a:xfrm>
          <a:prstGeom prst="roundRect">
            <a:avLst>
              <a:gd name="adj" fmla="val 4082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023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4343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typed, not generic 500s</a:t>
            </a:r>
            <a:endParaRPr lang="en-US" sz="125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traceable through logs</a:t>
            </a:r>
            <a:endParaRPr lang="en-US" sz="125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root-cause analysis in production</a:t>
            </a:r>
            <a:endParaRPr lang="en-US" sz="125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contract between layers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Health Check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13244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API Key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9535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953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API Key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3924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 Key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83133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8313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Index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Count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0" y="29535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11880" y="2953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91840" y="339242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11880" y="33924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 Chain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FIRST?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4406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readiness before the chatbot ever answers a user question.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057400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057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system ready?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23960" y="2560320"/>
            <a:ext cx="0" cy="27432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35040" y="2834640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8346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342900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961120" y="342900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3A1B2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35040" y="425196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251960"/>
            <a:ext cx="51206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checks run before every session — API keys, index status, and model chain — so failures surface before a user ever sees them.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Know the RAG System Works?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B2E5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Evaluation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ROUGE-1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9959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9592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ROUGE-L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562856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56285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29784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12978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97680" y="178308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13244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rgbClr val="1B2E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0" y="2697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Evaluation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572000" y="342900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Recall@K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39959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99592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178308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1B2E5C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21040" y="2697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Evaluation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321040" y="342900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Fixed Test Queries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321040" y="39959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399592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answer review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EVALUATION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Metrics — Recall@K &amp; MRR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system retrieve the correct documents?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3063240"/>
            <a:ext cx="40233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Relevant Documents Retrieved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Relevant Documents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rank is the first correct result?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VALUES OF 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645920" cy="594360"/>
          </a:xfrm>
          <a:prstGeom prst="roundRect">
            <a:avLst>
              <a:gd name="adj" fmla="val 49231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377440" y="5120640"/>
            <a:ext cx="1645920" cy="594360"/>
          </a:xfrm>
          <a:prstGeom prst="roundRect">
            <a:avLst>
              <a:gd name="adj" fmla="val 49231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06240" y="5120640"/>
            <a:ext cx="1645920" cy="594360"/>
          </a:xfrm>
          <a:prstGeom prst="roundRect">
            <a:avLst>
              <a:gd name="adj" fmla="val 49231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5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Best RAG Configuration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4767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774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Baseline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953512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200400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Role + Constraints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4767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377440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3774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voyage-3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953512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2004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voyage-3-large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3367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663440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634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/ 30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239512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5486400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864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 / 100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23367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4663440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081025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6634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5239512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5486400"/>
            <a:ext cx="4983480" cy="548640"/>
          </a:xfrm>
          <a:prstGeom prst="roundRect">
            <a:avLst>
              <a:gd name="adj" fmla="val 11667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4864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MMR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58368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2606040"/>
                <a:gridCol w="2148840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Ali Ahmed Zaki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 + core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Infrastructure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Moaz Reda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 + schemas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 Layer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Hassan Mohamed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services + rag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Core RAG Logic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Mohamed Hany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utils + vector_store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&amp; Retrieval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Ahmed Mostafa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evaluation + optimization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Testing &amp; Experiments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452360" y="17830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FLOW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52360" y="214884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2148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Core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555480" y="2532888"/>
            <a:ext cx="0" cy="118872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452360" y="265176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26517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Vector Store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555480" y="3035808"/>
            <a:ext cx="0" cy="118872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452360" y="31546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3154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Services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555480" y="3538728"/>
            <a:ext cx="0" cy="118872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452360" y="36576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3657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Schemas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55480" y="4041648"/>
            <a:ext cx="0" cy="118872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452360" y="416052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0" y="4160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Optimization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Demo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C7A9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/api/v1/health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9992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system is ready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78808" y="2743200"/>
            <a:ext cx="146304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17830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011680"/>
            <a:ext cx="457200" cy="457200"/>
          </a:xfrm>
          <a:prstGeom prst="ellipse">
            <a:avLst/>
          </a:prstGeom>
          <a:solidFill>
            <a:srgbClr val="0C7A94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/api/v1/retrieve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9992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relevant complaints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27848" y="2743200"/>
            <a:ext cx="146304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17830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2011680"/>
            <a:ext cx="457200" cy="457200"/>
          </a:xfrm>
          <a:prstGeom prst="ellipse">
            <a:avLst/>
          </a:prstGeom>
          <a:solidFill>
            <a:srgbClr val="0C7A94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/api/v1/chat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5320" y="29992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live question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SHOW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3581400" cy="685800"/>
          </a:xfrm>
          <a:prstGeom prst="roundRect">
            <a:avLst>
              <a:gd name="adj" fmla="val 10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89120"/>
            <a:ext cx="3581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130040" y="4727448"/>
            <a:ext cx="164592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12920" y="4389120"/>
            <a:ext cx="3581400" cy="685800"/>
          </a:xfrm>
          <a:prstGeom prst="roundRect">
            <a:avLst>
              <a:gd name="adj" fmla="val 10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2920" y="4389120"/>
            <a:ext cx="3581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Sources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894320" y="4727448"/>
            <a:ext cx="164592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77200" y="4389120"/>
            <a:ext cx="3581400" cy="685800"/>
          </a:xfrm>
          <a:prstGeom prst="roundRect">
            <a:avLst>
              <a:gd name="adj" fmla="val 10667"/>
            </a:avLst>
          </a:prstGeom>
          <a:solidFill>
            <a:srgbClr val="0C7A9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77200" y="4389120"/>
            <a:ext cx="3581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Answer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end-to-end trace — from raw question, through retrieval, to a grounded, cited answer.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Build?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production-oriented RAG system that: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language questions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5146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semantically relevant complaints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5146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grounded, evidence-based answers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transparent source documents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4290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80560" y="39319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hosted, scalable infrastructure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34290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0" y="39319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fallback LLM models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" y="53492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automated health monitoring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484632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80560" y="53492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rigorous, automated evaluation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484632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132449"/>
          </a:solidFill>
          <a:ln w="12700">
            <a:solidFill>
              <a:srgbClr val="1B2E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29600" y="53492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systematic optimization experiments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4572000" cy="0"/>
          </a:xfrm>
          <a:prstGeom prst="line">
            <a:avLst/>
          </a:prstGeom>
          <a:noFill/>
          <a:ln w="12700">
            <a:solidFill>
              <a:srgbClr val="1B2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Complaints RAG Chatbot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  →  Understand  →  Generate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166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Zaki  •  Moaz Reda  •  Hassan Mohamed  •  Mohamed Hany  •  Ahmed Mostafa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2026-07-22T21:50:06Z</dcterms:created>
  <dcterms:modified xsi:type="dcterms:W3CDTF">2026-07-22T21:50:06Z</dcterms:modified>
</cp:coreProperties>
</file>